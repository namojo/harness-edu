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정책축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46BEB"/>
              </a:solidFill>
              <a:effectLst/>
            </c:spPr>
          </c:dPt>
          <c:dPt>
            <c:idx val="1"/>
            <c:bubble3D val="0"/>
            <c:spPr>
              <a:solidFill>
                <a:srgbClr val="0B2E5C"/>
              </a:solidFill>
              <a:effectLst/>
            </c:spPr>
          </c:dPt>
          <c:dPt>
            <c:idx val="2"/>
            <c:bubble3D val="0"/>
            <c:spPr>
              <a:solidFill>
                <a:srgbClr val="7EA4D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1. AI 혁신생태계 조성</c:v>
                </c:pt>
                <c:pt idx="1">
                  <c:v>2. 범국가 AI 기반 대전환</c:v>
                </c:pt>
                <c:pt idx="2">
                  <c:v>3. 글로벌 AI 기본사회 기여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134</c:v>
                </c:pt>
                <c:pt idx="1">
                  <c:v>114</c:v>
                </c:pt>
                <c:pt idx="2">
                  <c:v>78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권고 수</c:v>
                </c:pt>
              </c:strCache>
            </c:strRef>
          </c:tx>
          <c:spPr>
            <a:solidFill>
              <a:srgbClr val="DE3412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E34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E34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74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46B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EA4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8E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4BCC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’26.1Q</c:v>
                  </c:pt>
                  <c:pt idx="1">
                    <c:v>’26.2Q</c:v>
                  </c:pt>
                  <c:pt idx="2">
                    <c:v>’26.3Q</c:v>
                  </c:pt>
                  <c:pt idx="3">
                    <c:v>’26.4Q</c:v>
                  </c:pt>
                  <c:pt idx="4">
                    <c:v>’27년</c:v>
                  </c:pt>
                  <c:pt idx="5">
                    <c:v>’28~’30</c:v>
                  </c:pt>
                  <c:pt idx="6">
                    <c:v>기한없음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</c:v>
                </c:pt>
                <c:pt idx="1">
                  <c:v>85</c:v>
                </c:pt>
                <c:pt idx="2">
                  <c:v>28</c:v>
                </c:pt>
                <c:pt idx="3">
                  <c:v>72</c:v>
                </c:pt>
                <c:pt idx="4">
                  <c:v>34</c:v>
                </c:pt>
                <c:pt idx="5">
                  <c:v>2</c:v>
                </c:pt>
                <c:pt idx="6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기한초과</c:v>
                </c:pt>
              </c:strCache>
            </c:strRef>
          </c:tx>
          <c:spPr>
            <a:solidFill>
              <a:srgbClr val="DE34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권고 326건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주의</c:v>
                </c:pt>
              </c:strCache>
            </c:strRef>
          </c:tx>
          <c:spPr>
            <a:solidFill>
              <a:srgbClr val="B27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권고 326건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관찰</c:v>
                </c:pt>
              </c:strCache>
            </c:strRef>
          </c:tx>
          <c:spPr>
            <a:solidFill>
              <a:srgbClr val="246B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권고 326건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72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여유</c:v>
                </c:pt>
              </c:strCache>
            </c:strRef>
          </c:tx>
          <c:spPr>
            <a:solidFill>
              <a:srgbClr val="2287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권고 326건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기한없음</c:v>
                </c:pt>
              </c:strCache>
            </c:strRef>
          </c:tx>
          <c:spPr>
            <a:solidFill>
              <a:srgbClr val="B4B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권고 326건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권고 수</c:v>
                </c:pt>
              </c:strCache>
            </c:strRef>
          </c:tx>
          <c:spPr>
            <a:solidFill>
              <a:srgbClr val="246B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국정원</c:v>
                  </c:pt>
                  <c:pt idx="1">
                    <c:v>국토부</c:v>
                  </c:pt>
                  <c:pt idx="2">
                    <c:v>문체부</c:v>
                  </c:pt>
                  <c:pt idx="3">
                    <c:v>중기부</c:v>
                  </c:pt>
                  <c:pt idx="4">
                    <c:v>복지부</c:v>
                  </c:pt>
                  <c:pt idx="5">
                    <c:v>국방부</c:v>
                  </c:pt>
                  <c:pt idx="6">
                    <c:v>행안부</c:v>
                  </c:pt>
                  <c:pt idx="7">
                    <c:v>산업부</c:v>
                  </c:pt>
                  <c:pt idx="8">
                    <c:v>교육부</c:v>
                  </c:pt>
                  <c:pt idx="9">
                    <c:v>과기정통부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12</c:v>
                </c:pt>
                <c:pt idx="4">
                  <c:v>17</c:v>
                </c:pt>
                <c:pt idx="5">
                  <c:v>23</c:v>
                </c:pt>
                <c:pt idx="6">
                  <c:v>25</c:v>
                </c:pt>
                <c:pt idx="7">
                  <c:v>31</c:v>
                </c:pt>
                <c:pt idx="8">
                  <c:v>32</c:v>
                </c:pt>
                <c:pt idx="9">
                  <c:v>121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91840"/>
            <a:ext cx="3291840" cy="3291840"/>
          </a:xfrm>
          <a:prstGeom prst="ellipse">
            <a:avLst/>
          </a:prstGeom>
          <a:solidFill>
            <a:srgbClr val="246BE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206240"/>
            <a:ext cx="2011680" cy="20116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국가인공지능전략위원회 확정본 기준  ·  UNOFFICIAL 분석자료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이행현황 점검 보고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3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  2026. 7. 3.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3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정책축 · 12대 전략분야 · 99개 실천과제 · 326개 정책권고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harness-edu 실습 산출물  |  데이터: 국가AI전략위 ’26.2.25 확정본 + K-AI2026 대시보드(hollobit.github.io/K-AI2026)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행동계획 개요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제6조에 따른 법정 기본계획 — ’26. 2. 25. 국가AI전략위 제2차 전체회의 심의·의결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 이행현황  |  기준일 2026. 7. 3.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1965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435608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6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234086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혁신·대전환·글로벌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78024" y="1325880"/>
            <a:ext cx="1965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78024" y="1435608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6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78024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전략분야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78024" y="234086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고속도로 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0016" y="1325880"/>
            <a:ext cx="1965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435608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0016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실천과제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0016" y="234086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부여 과제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22008" y="1325880"/>
            <a:ext cx="1965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22008" y="1435608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22008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정책권고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22008" y="234086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부처별 세부 권고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999232"/>
            <a:ext cx="384048" cy="384048"/>
          </a:xfrm>
          <a:prstGeom prst="ellipse">
            <a:avLst/>
          </a:prstGeom>
          <a:solidFill>
            <a:srgbClr val="246BE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2926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혁신생태계 조성  </a:t>
            </a:r>
            <a:pPr indent="0" marL="0">
              <a:buNone/>
            </a:pPr>
            <a:r>
              <a:rPr lang="en-US" sz="1100" b="1" dirty="0">
                <a:solidFill>
                  <a:srgbClr val="246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134건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200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GPU·데이터센터·데이터·인재 등 ‘AI 고속도로’ 인프라와 기술 생태계 구축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246BE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3584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범국가 AI 기반 대전환  </a:t>
            </a:r>
            <a:pPr indent="0" marL="0">
              <a:buNone/>
            </a:pPr>
            <a:r>
              <a:rPr lang="en-US" sz="1100" b="1" dirty="0">
                <a:solidFill>
                  <a:srgbClr val="246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114건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858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산업·공공·지역·교육·국방 전 영역의 AX(AI 전환) 가속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15968"/>
            <a:ext cx="384048" cy="384048"/>
          </a:xfrm>
          <a:prstGeom prst="ellipse">
            <a:avLst/>
          </a:prstGeom>
          <a:solidFill>
            <a:srgbClr val="0B2E5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42428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AI 기본사회 기여  </a:t>
            </a:r>
            <a:pPr indent="0" marL="0">
              <a:buNone/>
            </a:pPr>
            <a:r>
              <a:rPr lang="en-US" sz="1100" b="1" dirty="0">
                <a:solidFill>
                  <a:srgbClr val="246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78건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5171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기본사회, 규범·안전, 글로벌 AI 이니셔티브 주도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정책축별 권고 분포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326개 정책권고의 41%가 혁신생태계(인프라·기술) 구축에 집중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 이행현황  |  기준일 2026. 7. 3.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463040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EFF5FF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134건 (41.1%)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74920" y="18105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고속도로 — GPU 5만장, 데이터센터, 국가데이터 통합플랫폼, 독자 파운데이션 모델 등 기반 구축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92040" y="2514600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EFF5FF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114건 (35.0%)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74920" y="28620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산업·공공·지역·교육·국방 AX — 전 산업 도메인의 AI 전환 실행 권고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92040" y="3566160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EFF5FF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78건 (23.9%)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74920" y="39136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기본사회·안전·글로벌 — 규범 정립과 국제 이니셔티브 주도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추진기한 분포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326건 중 266건(81.6%)이 ’26년 내 기한 — 첫해에 실행이 집중된 초압축 로드맵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 이행현황  |  기준일 2026. 7. 3.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371600"/>
            <a:ext cx="2514600" cy="914400"/>
          </a:xfrm>
          <a:prstGeom prst="roundRect">
            <a:avLst>
              <a:gd name="adj" fmla="val 5000"/>
            </a:avLst>
          </a:prstGeom>
          <a:solidFill>
            <a:srgbClr val="EFF5FF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1444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’26년 상반기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17007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166건(50.9%)의 기한이 이미 도래 — 이행 점검이 시급한 구간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17920" y="2423160"/>
            <a:ext cx="2514600" cy="914400"/>
          </a:xfrm>
          <a:prstGeom prst="roundRect">
            <a:avLst>
              <a:gd name="adj" fmla="val 5000"/>
            </a:avLst>
          </a:prstGeom>
          <a:solidFill>
            <a:srgbClr val="EFF5FF"/>
          </a:solidFill>
          <a:ln/>
        </p:spPr>
      </p:sp>
      <p:sp>
        <p:nvSpPr>
          <p:cNvPr id="10" name="Text 7"/>
          <p:cNvSpPr/>
          <p:nvPr/>
        </p:nvSpPr>
        <p:spPr>
          <a:xfrm>
            <a:off x="6355080" y="24963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’26년 3분기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27523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28건 기한 임박(D-89) — 산업 AX·AI 기본사회 분야 집중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17920" y="3474720"/>
            <a:ext cx="2514600" cy="914400"/>
          </a:xfrm>
          <a:prstGeom prst="roundRect">
            <a:avLst>
              <a:gd name="adj" fmla="val 5000"/>
            </a:avLst>
          </a:prstGeom>
          <a:solidFill>
            <a:srgbClr val="EFF5F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3547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6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’26년 4분기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38039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72건 — 법제화·플랫폼 구축 등 연내 완료 목표 과제 다수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 위험도 현황 (기준일 2026. 7. 3.)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D-Day 기준 분류: 기한초과(D&lt;0) · 긴급(D≤34) · 주의(D≤120) · 관찰(D≤240) · 여유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 이행현황  |  기준일 2026. 7. 3.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8988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E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기한초과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40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50.9% · ’26.1~2Q 도래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29968" y="128016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38988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29968" y="20848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9968" y="2340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D-89 · ’26.3Q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85616" y="128016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85616" y="138988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6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85616" y="20848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85616" y="2340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D-181 · ’26.4Q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41264" y="128016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41264" y="138988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87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541264" y="20848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41264" y="2340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’27년 이후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96912" y="128016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96912" y="138988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96912" y="20848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기한없음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96912" y="2340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과제</a:t>
            </a:r>
            <a:endParaRPr lang="en-US" sz="9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2880360"/>
          <a:ext cx="804672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E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주의: </a:t>
            </a:r>
            <a:pPr indent="0" marL="0">
              <a:buNone/>
            </a:pPr>
            <a:r>
              <a:rPr lang="en-US" sz="10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‘기한초과’는 미이행 확정이 아니라 계획상 기한이 도래하여 이행 여부 확인·점검이 필요한 권고를 의미합니다. 공식 이행실적 데이터는 아직 공개 전이며, 대시보드 이행 진척률 입력값 기준 0%입니다.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주관부처별 권고 수 Top 10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과기정통부가 121건(37%)으로 최다 — 부처 간 이행 조율이 핵심 과제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 이행현황  |  기준일 2026. 7. 3.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41732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EFF5FF"/>
          </a:solidFill>
          <a:ln/>
        </p:spPr>
      </p:sp>
      <p:sp>
        <p:nvSpPr>
          <p:cNvPr id="7" name="Text 4"/>
          <p:cNvSpPr/>
          <p:nvPr/>
        </p:nvSpPr>
        <p:spPr>
          <a:xfrm>
            <a:off x="6199632" y="1490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집중과 병목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99632" y="174650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권고의 1/3 이상이 과기정통부 주관 — 분기 내 5건 이상 몰리는 ‘부처 과부하’ 구간 존재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35040" y="251460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EFF5FF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2587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공동주관 27건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9632" y="284378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부처 간 협업 전제 권고 다수 — 국가 CTO·CDO 거버넌스 정립(과제 8)과 직결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361188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EFF5FF"/>
          </a:solidFill>
          <a:ln/>
        </p:spPr>
      </p:sp>
      <p:sp>
        <p:nvSpPr>
          <p:cNvPr id="13" name="Text 10"/>
          <p:cNvSpPr/>
          <p:nvPr/>
        </p:nvSpPr>
        <p:spPr>
          <a:xfrm>
            <a:off x="6199632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 조직 참여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99632" y="394106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국가데이터처·성평등부 등 신규 부처 편입으로 범정부 이행 체계 확대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기한도래(’26 상반기) 주요 관리 대상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166건 중 AI 고속도로·거버넌스 핵심 선행과제 예시 — 후행과제 연쇄 지연 위험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 이행현황  |  기준일 2026. 7. 3.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017520"/>
        </p:xfrm>
        <a:graphic>
          <a:graphicData uri="http://schemas.openxmlformats.org/drawingml/2006/table">
            <a:tbl>
              <a:tblPr/>
              <a:tblGrid>
                <a:gridCol w="2286000"/>
                <a:gridCol w="3566160"/>
                <a:gridCol w="100584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 내용(요약)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1-1 첨단 GPU 확충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5만장 운영계획 수립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’26.1Q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과기정통부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4-1 국가데이터 통합플랫폼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구축·운영 계획 마련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’26.1Q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과기정통부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7-1 K-문샷 추진전략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과학AI 통합플랫폼·임무형 R&amp;D 전략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’26.1Q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과기정통부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2-1 AI데이터센터 생태계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구축 종합계획·세제혜택 방안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’26.1~2Q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과기정통부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8-1 국가 AI·데이터 거버넌스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 CTO·CDO 체계 종합계획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’26.2Q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국가AI전략위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74-1 국방 AI 거버넌스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국방 CAIO·AI위원회 수립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’26.2Q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국방부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E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  </a:t>
            </a:r>
            <a:pPr indent="0" marL="0">
              <a:buNone/>
            </a:pPr>
            <a:r>
              <a:rPr lang="en-US" sz="1050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GPU·데이터 플랫폼·거버넌스는 대시보드 연관도 분석상 다수 후행과제의 선행조건 — 이 구간의 지연은 ’26년 4분기 72건의 연쇄 지연으로 이어질 수 있음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 및 제언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AI 행동계획 2026 이행현황  |  기준일 2026. 7. 3.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435608"/>
            <a:ext cx="457200" cy="457200"/>
          </a:xfrm>
          <a:prstGeom prst="ellipse">
            <a:avLst/>
          </a:prstGeom>
          <a:solidFill>
            <a:srgbClr val="DE341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538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이행실적 공개 체계 조기 가동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0116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기한도래 166건의 이행 여부를 확인할 공식 데이터가 부재 — 과제·권고 단위의 이행실적 공개가 첫 단추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435608"/>
            <a:ext cx="457200" cy="457200"/>
          </a:xfrm>
          <a:prstGeom prst="ellipse">
            <a:avLst/>
          </a:prstGeom>
          <a:solidFill>
            <a:srgbClr val="246BEB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4538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선행과제 우선 점검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5192" y="20116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GPU·국가데이터 통합플랫폼·거버넌스 등 선행과제 지연은 후행 200여 건에 파급 — 연관도 기반 우선순위 관리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218688"/>
            <a:ext cx="457200" cy="457200"/>
          </a:xfrm>
          <a:prstGeom prst="ellipse">
            <a:avLst/>
          </a:prstGeom>
          <a:solidFill>
            <a:srgbClr val="0B2E5C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2369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부처 과부하 구간 조정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379476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 121건 등 특정 부처·분기 집중 — 분기별 이행 캘린더로 병목 사전 분산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0B2E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3218688"/>
            <a:ext cx="457200" cy="457200"/>
          </a:xfrm>
          <a:prstGeom prst="ellipse">
            <a:avLst/>
          </a:prstGeom>
          <a:solidFill>
            <a:srgbClr val="B274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2369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’26.3Q 28건 집중 관리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65192" y="379476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AX(6건)·AI 기본사회(5건) 등 D-89 임박 과제의 착수 현황 즉시 점검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246BE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및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국가인공지능전략위원회, 「대한민국 인공지능 행동계획」 확정본 (’26. 2. 25. 제2차 전체회의 의결)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K-AI2026 대시보드 (hollobit.github.io/K-AI2026) — 99개 과제·326개 권고 구조화 데이터 및 위험도 분류 기준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유의사항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 자료는 비공식(UNOFFICIAL) 분석용 교육 자료로, 정부 공식 이행평가가 아닙니다.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‘기한초과’는 계획상 기한 도래를 의미하며, 실제 이행 여부는 공식 실적 공개 후 확인 가능합니다.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대시보드 원자료는 공개 PDF의 AI 분석 기반으로 오류(hallucination) 가능성이 있습니다.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harness-edu — AI 에이전트로 만드는 정책 이행현황 보고 파이프라인 실습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대한민국 AI 행동계획 2026 이행현황</dc:title>
  <dc:subject>PptxGenJS Presentation</dc:subject>
  <dc:creator>harness-edu</dc:creator>
  <cp:lastModifiedBy>harness-edu</cp:lastModifiedBy>
  <cp:revision>1</cp:revision>
  <dcterms:created xsi:type="dcterms:W3CDTF">2026-07-03T02:35:00Z</dcterms:created>
  <dcterms:modified xsi:type="dcterms:W3CDTF">2026-07-03T02:35:00Z</dcterms:modified>
</cp:coreProperties>
</file>